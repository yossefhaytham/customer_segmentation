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2" r:id="rId36"/>
    <p:sldId id="293" r:id="rId37"/>
    <p:sldId id="294" r:id="rId38"/>
    <p:sldId id="295" r:id="rId39"/>
    <p:sldId id="296" r:id="rId40"/>
  </p:sldIdLst>
  <p:sldSz cx="9880600" cy="6858000"/>
  <p:notesSz cx="6858000" cy="9144000"/>
  <p:embeddedFontLst>
    <p:embeddedFont>
      <p:font typeface="Arial MT Pro" panose="020B0604020202020204" charset="0"/>
      <p:regular r:id="rId41"/>
    </p:embeddedFont>
    <p:embeddedFont>
      <p:font typeface="Arial MT Pro Bold" panose="020B0604020202020204" charset="0"/>
      <p:regular r:id="rId42"/>
    </p:embeddedFont>
    <p:embeddedFont>
      <p:font typeface="Arial MT Pro Italics" panose="020B0604020202020204" charset="0"/>
      <p:regular r:id="rId43"/>
    </p:embeddedFont>
    <p:embeddedFont>
      <p:font typeface="Arimo" panose="020B0604020202020204" charset="0"/>
      <p:regular r:id="rId44"/>
    </p:embeddedFont>
    <p:embeddedFont>
      <p:font typeface="Arimo Bold" panose="020B0604020202020204" charset="0"/>
      <p:regular r:id="rId45"/>
    </p:embeddedFont>
    <p:embeddedFont>
      <p:font typeface="DM Sans Bold" panose="020B0604020202020204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622" autoAdjust="0"/>
  </p:normalViewPr>
  <p:slideViewPr>
    <p:cSldViewPr>
      <p:cViewPr varScale="1">
        <p:scale>
          <a:sx n="79" d="100"/>
          <a:sy n="79" d="100"/>
        </p:scale>
        <p:origin x="150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29153" y="247012"/>
            <a:ext cx="1599009" cy="524094"/>
            <a:chOff x="0" y="0"/>
            <a:chExt cx="2132012" cy="6987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32076" cy="698754"/>
            </a:xfrm>
            <a:custGeom>
              <a:avLst/>
              <a:gdLst/>
              <a:ahLst/>
              <a:cxnLst/>
              <a:rect l="l" t="t" r="r" b="b"/>
              <a:pathLst>
                <a:path w="2132076" h="698754">
                  <a:moveTo>
                    <a:pt x="0" y="0"/>
                  </a:moveTo>
                  <a:lnTo>
                    <a:pt x="2132076" y="0"/>
                  </a:lnTo>
                  <a:lnTo>
                    <a:pt x="2132076" y="698754"/>
                  </a:lnTo>
                  <a:lnTo>
                    <a:pt x="0" y="698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3" r="2" b="-12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495900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70" b="-207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16395" y="2336332"/>
            <a:ext cx="9349957" cy="201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Customer segmentation</a:t>
            </a:r>
          </a:p>
          <a:p>
            <a:pPr algn="ctr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Understanding Customers Through Data-Driven Segmentation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6395" y="4632786"/>
            <a:ext cx="6045003" cy="447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599" b="1">
                <a:solidFill>
                  <a:srgbClr val="00B3E3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SIC – AI801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9104" y="184328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990" y="1868158"/>
            <a:ext cx="9423997" cy="342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Team Members</a:t>
            </a:r>
          </a:p>
          <a:p>
            <a:pPr marL="731291" lvl="2" indent="-243764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Problem Statement and Dataset Overview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Data cleaning &amp; Pre-processing 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Machine Learning Model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Evaluation For Model</a:t>
            </a:r>
          </a:p>
          <a:p>
            <a:pPr marL="731396" lvl="2" indent="-243799" algn="l">
              <a:lnSpc>
                <a:spcPts val="3838"/>
              </a:lnSpc>
              <a:buFont typeface="Arial"/>
              <a:buChar char="⚬"/>
            </a:pPr>
            <a:r>
              <a:rPr lang="en-US" sz="3198">
                <a:solidFill>
                  <a:srgbClr val="7F7F7F"/>
                </a:solidFill>
                <a:latin typeface="Arimo"/>
                <a:ea typeface="Arimo"/>
                <a:cs typeface="Arimo"/>
                <a:sym typeface="Arimo"/>
              </a:rPr>
              <a:t>Conclusion (Our Recommendations)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549" y="-66675"/>
            <a:ext cx="9902857" cy="655475"/>
            <a:chOff x="0" y="0"/>
            <a:chExt cx="13203809" cy="8739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873967"/>
            </a:xfrm>
            <a:custGeom>
              <a:avLst/>
              <a:gdLst/>
              <a:ahLst/>
              <a:cxnLst/>
              <a:rect l="l" t="t" r="r" b="b"/>
              <a:pathLst>
                <a:path w="13203810" h="873967">
                  <a:moveTo>
                    <a:pt x="0" y="0"/>
                  </a:moveTo>
                  <a:lnTo>
                    <a:pt x="13203810" y="0"/>
                  </a:lnTo>
                  <a:lnTo>
                    <a:pt x="13203810" y="873967"/>
                  </a:lnTo>
                  <a:lnTo>
                    <a:pt x="0" y="873967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>
            <a:off x="542032" y="6588408"/>
            <a:ext cx="8793399" cy="9515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88204" y="677383"/>
            <a:ext cx="1982057" cy="2564133"/>
            <a:chOff x="0" y="0"/>
            <a:chExt cx="2642743" cy="3418844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148352"/>
              <a:ext cx="2642743" cy="3270492"/>
              <a:chOff x="0" y="0"/>
              <a:chExt cx="2642743" cy="3270492"/>
            </a:xfrm>
          </p:grpSpPr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2"/>
              <a:srcRect l="2338" r="2338"/>
              <a:stretch>
                <a:fillRect/>
              </a:stretch>
            </p:blipFill>
            <p:spPr>
              <a:xfrm>
                <a:off x="0" y="0"/>
                <a:ext cx="2642743" cy="3270492"/>
              </a:xfrm>
              <a:prstGeom prst="rect">
                <a:avLst/>
              </a:prstGeom>
            </p:spPr>
          </p:pic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2609519" cy="3418844"/>
              <a:chOff x="0" y="0"/>
              <a:chExt cx="1070608" cy="14026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70608" cy="1402651"/>
              </a:xfrm>
              <a:custGeom>
                <a:avLst/>
                <a:gdLst/>
                <a:ahLst/>
                <a:cxnLst/>
                <a:rect l="l" t="t" r="r" b="b"/>
                <a:pathLst>
                  <a:path w="1070608" h="1402651">
                    <a:moveTo>
                      <a:pt x="0" y="0"/>
                    </a:moveTo>
                    <a:lnTo>
                      <a:pt x="1070608" y="0"/>
                    </a:lnTo>
                    <a:lnTo>
                      <a:pt x="1070608" y="1402651"/>
                    </a:lnTo>
                    <a:lnTo>
                      <a:pt x="0" y="1402651"/>
                    </a:ln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1070608" cy="1450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88204" y="3620623"/>
            <a:ext cx="1982057" cy="2564133"/>
            <a:chOff x="0" y="0"/>
            <a:chExt cx="2642743" cy="3418844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74176"/>
              <a:ext cx="2642743" cy="3270492"/>
              <a:chOff x="0" y="0"/>
              <a:chExt cx="2642743" cy="3270492"/>
            </a:xfrm>
          </p:grpSpPr>
          <p:pic>
            <p:nvPicPr>
              <p:cNvPr id="13" name="Picture 13"/>
              <p:cNvPicPr>
                <a:picLocks noChangeAspect="1"/>
              </p:cNvPicPr>
              <p:nvPr/>
            </p:nvPicPr>
            <p:blipFill>
              <a:blip r:embed="rId3"/>
              <a:srcRect t="1071" b="1071"/>
              <a:stretch>
                <a:fillRect/>
              </a:stretch>
            </p:blipFill>
            <p:spPr>
              <a:xfrm>
                <a:off x="0" y="0"/>
                <a:ext cx="2642743" cy="3270492"/>
              </a:xfrm>
              <a:prstGeom prst="rect">
                <a:avLst/>
              </a:prstGeom>
            </p:spPr>
          </p:pic>
        </p:grpSp>
        <p:grpSp>
          <p:nvGrpSpPr>
            <p:cNvPr id="14" name="Group 14"/>
            <p:cNvGrpSpPr/>
            <p:nvPr/>
          </p:nvGrpSpPr>
          <p:grpSpPr>
            <a:xfrm>
              <a:off x="33224" y="0"/>
              <a:ext cx="2609519" cy="3418844"/>
              <a:chOff x="0" y="0"/>
              <a:chExt cx="1070608" cy="14026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70608" cy="1402651"/>
              </a:xfrm>
              <a:custGeom>
                <a:avLst/>
                <a:gdLst/>
                <a:ahLst/>
                <a:cxnLst/>
                <a:rect l="l" t="t" r="r" b="b"/>
                <a:pathLst>
                  <a:path w="1070608" h="1402651">
                    <a:moveTo>
                      <a:pt x="0" y="0"/>
                    </a:moveTo>
                    <a:lnTo>
                      <a:pt x="1070608" y="0"/>
                    </a:lnTo>
                    <a:lnTo>
                      <a:pt x="1070608" y="1402651"/>
                    </a:lnTo>
                    <a:lnTo>
                      <a:pt x="0" y="1402651"/>
                    </a:ln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070608" cy="1450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3860749" y="2138102"/>
            <a:ext cx="1982057" cy="2452869"/>
            <a:chOff x="0" y="0"/>
            <a:chExt cx="2642743" cy="3270492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rcRect l="3977" r="3977"/>
            <a:stretch>
              <a:fillRect/>
            </a:stretch>
          </p:blipFill>
          <p:spPr>
            <a:xfrm>
              <a:off x="0" y="0"/>
              <a:ext cx="2642743" cy="3270492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3873208" y="2138102"/>
            <a:ext cx="1957139" cy="2452869"/>
            <a:chOff x="0" y="0"/>
            <a:chExt cx="1070608" cy="13417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0608" cy="1341786"/>
            </a:xfrm>
            <a:custGeom>
              <a:avLst/>
              <a:gdLst/>
              <a:ahLst/>
              <a:cxnLst/>
              <a:rect l="l" t="t" r="r" b="b"/>
              <a:pathLst>
                <a:path w="1070608" h="1341786">
                  <a:moveTo>
                    <a:pt x="0" y="0"/>
                  </a:moveTo>
                  <a:lnTo>
                    <a:pt x="1070608" y="0"/>
                  </a:lnTo>
                  <a:lnTo>
                    <a:pt x="1070608" y="1341786"/>
                  </a:lnTo>
                  <a:lnTo>
                    <a:pt x="0" y="134178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1070608" cy="1389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754481" y="3663699"/>
            <a:ext cx="1828934" cy="2452869"/>
            <a:chOff x="0" y="0"/>
            <a:chExt cx="2438579" cy="3270492"/>
          </a:xfrm>
        </p:grpSpPr>
        <p:pic>
          <p:nvPicPr>
            <p:cNvPr id="23" name="Picture 23"/>
            <p:cNvPicPr>
              <a:picLocks noChangeAspect="1"/>
            </p:cNvPicPr>
            <p:nvPr/>
          </p:nvPicPr>
          <p:blipFill>
            <a:blip r:embed="rId5"/>
            <a:srcRect t="10478" b="10478"/>
            <a:stretch>
              <a:fillRect/>
            </a:stretch>
          </p:blipFill>
          <p:spPr>
            <a:xfrm>
              <a:off x="0" y="0"/>
              <a:ext cx="2438579" cy="3270492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7754481" y="3663699"/>
            <a:ext cx="1805941" cy="2452869"/>
            <a:chOff x="0" y="0"/>
            <a:chExt cx="987899" cy="134178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87899" cy="1341786"/>
            </a:xfrm>
            <a:custGeom>
              <a:avLst/>
              <a:gdLst/>
              <a:ahLst/>
              <a:cxnLst/>
              <a:rect l="l" t="t" r="r" b="b"/>
              <a:pathLst>
                <a:path w="987899" h="1341786">
                  <a:moveTo>
                    <a:pt x="0" y="0"/>
                  </a:moveTo>
                  <a:lnTo>
                    <a:pt x="987899" y="0"/>
                  </a:lnTo>
                  <a:lnTo>
                    <a:pt x="987899" y="1341786"/>
                  </a:lnTo>
                  <a:lnTo>
                    <a:pt x="0" y="1341786"/>
                  </a:lnTo>
                  <a:close/>
                </a:path>
              </a:pathLst>
            </a:custGeom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87899" cy="1389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792388" y="741042"/>
            <a:ext cx="1791026" cy="2564133"/>
            <a:chOff x="0" y="0"/>
            <a:chExt cx="2388035" cy="3418844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74176"/>
              <a:ext cx="2388035" cy="3270492"/>
              <a:chOff x="0" y="0"/>
              <a:chExt cx="2388035" cy="3270492"/>
            </a:xfrm>
          </p:grpSpPr>
          <p:pic>
            <p:nvPicPr>
              <p:cNvPr id="29" name="Picture 29"/>
              <p:cNvPicPr>
                <a:picLocks noChangeAspect="1"/>
              </p:cNvPicPr>
              <p:nvPr/>
            </p:nvPicPr>
            <p:blipFill>
              <a:blip r:embed="rId6"/>
              <a:srcRect l="14632" r="14632"/>
              <a:stretch>
                <a:fillRect/>
              </a:stretch>
            </p:blipFill>
            <p:spPr>
              <a:xfrm>
                <a:off x="0" y="0"/>
                <a:ext cx="2388035" cy="3270492"/>
              </a:xfrm>
              <a:prstGeom prst="rect">
                <a:avLst/>
              </a:prstGeom>
            </p:spPr>
          </p:pic>
        </p:grpSp>
        <p:grpSp>
          <p:nvGrpSpPr>
            <p:cNvPr id="30" name="Group 30"/>
            <p:cNvGrpSpPr/>
            <p:nvPr/>
          </p:nvGrpSpPr>
          <p:grpSpPr>
            <a:xfrm>
              <a:off x="0" y="0"/>
              <a:ext cx="2358013" cy="3418844"/>
              <a:chOff x="0" y="0"/>
              <a:chExt cx="967423" cy="140265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967423" cy="1402651"/>
              </a:xfrm>
              <a:custGeom>
                <a:avLst/>
                <a:gdLst/>
                <a:ahLst/>
                <a:cxnLst/>
                <a:rect l="l" t="t" r="r" b="b"/>
                <a:pathLst>
                  <a:path w="967423" h="1402651">
                    <a:moveTo>
                      <a:pt x="0" y="0"/>
                    </a:moveTo>
                    <a:lnTo>
                      <a:pt x="967423" y="0"/>
                    </a:lnTo>
                    <a:lnTo>
                      <a:pt x="967423" y="1402651"/>
                    </a:lnTo>
                    <a:lnTo>
                      <a:pt x="0" y="1402651"/>
                    </a:lnTo>
                    <a:close/>
                  </a:path>
                </a:pathLst>
              </a:custGeom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47625"/>
                <a:ext cx="967423" cy="14502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84959" y="6564591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73748" y="-68583"/>
            <a:ext cx="4414314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41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Team Members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33471" y="864867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Yossef Haytham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28987" y="5716620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Mohab Harfoush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69943" y="4714796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Mazen Hassan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20276" y="864867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Mohamed Ashraf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720276" y="5716620"/>
            <a:ext cx="2283579" cy="27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8"/>
              </a:lnSpc>
              <a:spcBef>
                <a:spcPct val="0"/>
              </a:spcBef>
            </a:pPr>
            <a:r>
              <a:rPr lang="en-US" sz="1806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Menna Mohamed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869578"/>
            <a:ext cx="7361555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Problem Statement and Data </a:t>
            </a:r>
          </a:p>
        </p:txBody>
      </p:sp>
      <p:sp>
        <p:nvSpPr>
          <p:cNvPr id="4" name="AutoShape 4"/>
          <p:cNvSpPr/>
          <p:nvPr/>
        </p:nvSpPr>
        <p:spPr>
          <a:xfrm>
            <a:off x="-786691" y="3438525"/>
            <a:ext cx="2944982" cy="28579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197173" y="2028825"/>
            <a:ext cx="3533180" cy="4090394"/>
          </a:xfrm>
          <a:custGeom>
            <a:avLst/>
            <a:gdLst/>
            <a:ahLst/>
            <a:cxnLst/>
            <a:rect l="l" t="t" r="r" b="b"/>
            <a:pathLst>
              <a:path w="3533180" h="4090394">
                <a:moveTo>
                  <a:pt x="0" y="0"/>
                </a:moveTo>
                <a:lnTo>
                  <a:pt x="3533181" y="0"/>
                </a:lnTo>
                <a:lnTo>
                  <a:pt x="3533181" y="4090394"/>
                </a:lnTo>
                <a:lnTo>
                  <a:pt x="0" y="4090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30" t="-4141" r="-6534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9602" y="246221"/>
            <a:ext cx="181722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629" y="26671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629" y="1981200"/>
            <a:ext cx="588821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317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▶Customer Diversity: Customers differ in  needs, preferences, spending behaviors, and engagement levels.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899" y="4878576"/>
            <a:ext cx="588821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317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▶The Solution: Understand customer behavior to create tailored, personalized strategies for each segment.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629" y="3521572"/>
            <a:ext cx="5888216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317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▶The Risk: Applying a "one-size-fits-all" approach leads to ineffective marketing strategies.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8214" y="1227438"/>
            <a:ext cx="4762778" cy="40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Customers are not all the same.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919071"/>
            <a:chOff x="0" y="0"/>
            <a:chExt cx="13203809" cy="12254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225427"/>
            </a:xfrm>
            <a:custGeom>
              <a:avLst/>
              <a:gdLst/>
              <a:ahLst/>
              <a:cxnLst/>
              <a:rect l="l" t="t" r="r" b="b"/>
              <a:pathLst>
                <a:path w="13203810" h="1225427">
                  <a:moveTo>
                    <a:pt x="0" y="0"/>
                  </a:moveTo>
                  <a:lnTo>
                    <a:pt x="13203810" y="0"/>
                  </a:lnTo>
                  <a:lnTo>
                    <a:pt x="13203810" y="1225427"/>
                  </a:lnTo>
                  <a:lnTo>
                    <a:pt x="0" y="1225427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>
            <a:off x="542032" y="6419671"/>
            <a:ext cx="8793399" cy="9515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95597" y="2215764"/>
          <a:ext cx="9086269" cy="4113801"/>
        </p:xfrm>
        <a:graphic>
          <a:graphicData uri="http://schemas.openxmlformats.org/drawingml/2006/table">
            <a:tbl>
              <a:tblPr/>
              <a:tblGrid>
                <a:gridCol w="270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9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7174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Category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Key Columns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338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Customer Profile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ID, Year_Birth, Education, Marital_Status, Income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941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Family Info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Kidhome, Teenhome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65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Customer Activity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Dt_Customer, Recency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630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Product Spending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MntWines, MntMeat, MntGoldProds, etc.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802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Purchasing Channels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NumWebPurchases, NumStorePurchases, etc.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266"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Marketing Response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AcceptedCmp1–5, Response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42032" y="6493483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9602" y="246221"/>
            <a:ext cx="1817224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3260" y="957171"/>
            <a:ext cx="4580429" cy="40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Dataset: Customer Personality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56016" y="1366730"/>
            <a:ext cx="2989382" cy="658533"/>
            <a:chOff x="0" y="0"/>
            <a:chExt cx="1180990" cy="2601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80990" cy="260161"/>
            </a:xfrm>
            <a:custGeom>
              <a:avLst/>
              <a:gdLst/>
              <a:ahLst/>
              <a:cxnLst/>
              <a:rect l="l" t="t" r="r" b="b"/>
              <a:pathLst>
                <a:path w="1180990" h="260161">
                  <a:moveTo>
                    <a:pt x="28488" y="0"/>
                  </a:moveTo>
                  <a:lnTo>
                    <a:pt x="1152502" y="0"/>
                  </a:lnTo>
                  <a:cubicBezTo>
                    <a:pt x="1160058" y="0"/>
                    <a:pt x="1167304" y="3001"/>
                    <a:pt x="1172646" y="8344"/>
                  </a:cubicBezTo>
                  <a:cubicBezTo>
                    <a:pt x="1177989" y="13686"/>
                    <a:pt x="1180990" y="20932"/>
                    <a:pt x="1180990" y="28488"/>
                  </a:cubicBezTo>
                  <a:lnTo>
                    <a:pt x="1180990" y="231673"/>
                  </a:lnTo>
                  <a:cubicBezTo>
                    <a:pt x="1180990" y="239229"/>
                    <a:pt x="1177989" y="246475"/>
                    <a:pt x="1172646" y="251817"/>
                  </a:cubicBezTo>
                  <a:cubicBezTo>
                    <a:pt x="1167304" y="257160"/>
                    <a:pt x="1160058" y="260161"/>
                    <a:pt x="1152502" y="260161"/>
                  </a:cubicBezTo>
                  <a:lnTo>
                    <a:pt x="28488" y="260161"/>
                  </a:lnTo>
                  <a:cubicBezTo>
                    <a:pt x="20932" y="260161"/>
                    <a:pt x="13686" y="257160"/>
                    <a:pt x="8344" y="251817"/>
                  </a:cubicBezTo>
                  <a:cubicBezTo>
                    <a:pt x="3001" y="246475"/>
                    <a:pt x="0" y="239229"/>
                    <a:pt x="0" y="231673"/>
                  </a:cubicBezTo>
                  <a:lnTo>
                    <a:pt x="0" y="28488"/>
                  </a:lnTo>
                  <a:cubicBezTo>
                    <a:pt x="0" y="20932"/>
                    <a:pt x="3001" y="13686"/>
                    <a:pt x="8344" y="8344"/>
                  </a:cubicBezTo>
                  <a:cubicBezTo>
                    <a:pt x="13686" y="3001"/>
                    <a:pt x="20932" y="0"/>
                    <a:pt x="2848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180990" cy="298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599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2,240 customers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30822" y="1366730"/>
            <a:ext cx="2979933" cy="658533"/>
            <a:chOff x="0" y="0"/>
            <a:chExt cx="1177258" cy="26016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77258" cy="260161"/>
            </a:xfrm>
            <a:custGeom>
              <a:avLst/>
              <a:gdLst/>
              <a:ahLst/>
              <a:cxnLst/>
              <a:rect l="l" t="t" r="r" b="b"/>
              <a:pathLst>
                <a:path w="1177258" h="260161">
                  <a:moveTo>
                    <a:pt x="28578" y="0"/>
                  </a:moveTo>
                  <a:lnTo>
                    <a:pt x="1148679" y="0"/>
                  </a:lnTo>
                  <a:cubicBezTo>
                    <a:pt x="1164463" y="0"/>
                    <a:pt x="1177258" y="12795"/>
                    <a:pt x="1177258" y="28578"/>
                  </a:cubicBezTo>
                  <a:lnTo>
                    <a:pt x="1177258" y="231583"/>
                  </a:lnTo>
                  <a:cubicBezTo>
                    <a:pt x="1177258" y="247366"/>
                    <a:pt x="1164463" y="260161"/>
                    <a:pt x="1148679" y="260161"/>
                  </a:cubicBezTo>
                  <a:lnTo>
                    <a:pt x="28578" y="260161"/>
                  </a:lnTo>
                  <a:cubicBezTo>
                    <a:pt x="12795" y="260161"/>
                    <a:pt x="0" y="247366"/>
                    <a:pt x="0" y="231583"/>
                  </a:cubicBezTo>
                  <a:lnTo>
                    <a:pt x="0" y="28578"/>
                  </a:lnTo>
                  <a:cubicBezTo>
                    <a:pt x="0" y="12795"/>
                    <a:pt x="12795" y="0"/>
                    <a:pt x="285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77258" cy="298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599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29 columns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01933" y="1366730"/>
            <a:ext cx="2979933" cy="658533"/>
            <a:chOff x="0" y="0"/>
            <a:chExt cx="1177258" cy="2601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7258" cy="260161"/>
            </a:xfrm>
            <a:custGeom>
              <a:avLst/>
              <a:gdLst/>
              <a:ahLst/>
              <a:cxnLst/>
              <a:rect l="l" t="t" r="r" b="b"/>
              <a:pathLst>
                <a:path w="1177258" h="260161">
                  <a:moveTo>
                    <a:pt x="28578" y="0"/>
                  </a:moveTo>
                  <a:lnTo>
                    <a:pt x="1148679" y="0"/>
                  </a:lnTo>
                  <a:cubicBezTo>
                    <a:pt x="1164463" y="0"/>
                    <a:pt x="1177258" y="12795"/>
                    <a:pt x="1177258" y="28578"/>
                  </a:cubicBezTo>
                  <a:lnTo>
                    <a:pt x="1177258" y="231583"/>
                  </a:lnTo>
                  <a:cubicBezTo>
                    <a:pt x="1177258" y="247366"/>
                    <a:pt x="1164463" y="260161"/>
                    <a:pt x="1148679" y="260161"/>
                  </a:cubicBezTo>
                  <a:lnTo>
                    <a:pt x="28578" y="260161"/>
                  </a:lnTo>
                  <a:cubicBezTo>
                    <a:pt x="12795" y="260161"/>
                    <a:pt x="0" y="247366"/>
                    <a:pt x="0" y="231583"/>
                  </a:cubicBezTo>
                  <a:lnTo>
                    <a:pt x="0" y="28578"/>
                  </a:lnTo>
                  <a:cubicBezTo>
                    <a:pt x="0" y="12795"/>
                    <a:pt x="12795" y="0"/>
                    <a:pt x="285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77258" cy="298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r>
                <a:rPr lang="en-US" sz="1599" b="1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6 Categories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1708372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EDA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-888366" y="3305246"/>
            <a:ext cx="2983326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4152839" y="2189385"/>
            <a:ext cx="5630358" cy="3478558"/>
          </a:xfrm>
          <a:custGeom>
            <a:avLst/>
            <a:gdLst/>
            <a:ahLst/>
            <a:cxnLst/>
            <a:rect l="l" t="t" r="r" b="b"/>
            <a:pathLst>
              <a:path w="5630358" h="3478558">
                <a:moveTo>
                  <a:pt x="0" y="0"/>
                </a:moveTo>
                <a:lnTo>
                  <a:pt x="5630358" y="0"/>
                </a:lnTo>
                <a:lnTo>
                  <a:pt x="5630358" y="3478558"/>
                </a:lnTo>
                <a:lnTo>
                  <a:pt x="0" y="34785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613439"/>
            <a:ext cx="4056651" cy="405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6438" lvl="1" indent="-163219" algn="l">
              <a:lnSpc>
                <a:spcPts val="1814"/>
              </a:lnSpc>
              <a:spcBef>
                <a:spcPct val="0"/>
              </a:spcBef>
              <a:buFont typeface="Arial"/>
              <a:buChar char="•"/>
            </a:pPr>
            <a:r>
              <a:rPr lang="en-US" sz="151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Wine dominates spending</a:t>
            </a:r>
            <a:r>
              <a:rPr lang="en-US" sz="15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MntWines has by far the highest median and widest spread (up to ~1500), showing it's the primary revenue driver among product categories.</a:t>
            </a:r>
          </a:p>
          <a:p>
            <a:pPr marL="326438" lvl="1" indent="-163219" algn="l">
              <a:lnSpc>
                <a:spcPts val="1814"/>
              </a:lnSpc>
              <a:spcBef>
                <a:spcPct val="0"/>
              </a:spcBef>
              <a:buFont typeface="Arial"/>
              <a:buChar char="•"/>
            </a:pPr>
            <a:r>
              <a:rPr lang="en-US" sz="15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51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Right-skewed distributions with outliers</a:t>
            </a:r>
            <a:r>
              <a:rPr lang="en-US" sz="15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All categories are heavily right-skewed with numerous high-value outliers, especially MntMeatProducts (outliers up to ~1750), indicating a small segment of high-spending customers.</a:t>
            </a:r>
          </a:p>
          <a:p>
            <a:pPr marL="326438" lvl="1" indent="-163219" algn="l">
              <a:lnSpc>
                <a:spcPts val="1814"/>
              </a:lnSpc>
              <a:spcBef>
                <a:spcPct val="0"/>
              </a:spcBef>
              <a:buFont typeface="Arial"/>
              <a:buChar char="•"/>
            </a:pPr>
            <a:r>
              <a:rPr lang="en-US" sz="151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Low-spend categories cluster together</a:t>
            </a:r>
            <a:r>
              <a:rPr lang="en-US" sz="151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MntFruits, MntFishProducts, MntSweetProducts, and MntGoldProds show similarly low medians and compressed ranges, suggesting these are secondary/discretionary purchase categories compared to Wines and Meat.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4748052" y="1814728"/>
            <a:ext cx="5028200" cy="4229829"/>
          </a:xfrm>
          <a:custGeom>
            <a:avLst/>
            <a:gdLst/>
            <a:ahLst/>
            <a:cxnLst/>
            <a:rect l="l" t="t" r="r" b="b"/>
            <a:pathLst>
              <a:path w="5028200" h="4229829">
                <a:moveTo>
                  <a:pt x="0" y="0"/>
                </a:moveTo>
                <a:lnTo>
                  <a:pt x="5028200" y="0"/>
                </a:lnTo>
                <a:lnTo>
                  <a:pt x="5028200" y="4229829"/>
                </a:lnTo>
                <a:lnTo>
                  <a:pt x="0" y="4229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2697" y="1571686"/>
            <a:ext cx="4451082" cy="4512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0295" lvl="1" indent="-165148" algn="l">
              <a:lnSpc>
                <a:spcPts val="1835"/>
              </a:lnSpc>
              <a:spcBef>
                <a:spcPct val="0"/>
              </a:spcBef>
              <a:buFont typeface="Arial"/>
              <a:buChar char="•"/>
            </a:pPr>
            <a:r>
              <a:rPr lang="en-US" sz="152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Consistently positive correlations</a:t>
            </a:r>
            <a:r>
              <a:rPr lang="en-US" sz="152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All spending categories show moderate positive correlations (0.36–0.59) with each other, suggesting customers who spend more in one category tend to spend more across others — pointing to overall "high-spender" vs "low-spender" customer segments rather than category-specific buyers.</a:t>
            </a:r>
          </a:p>
          <a:p>
            <a:pPr marL="330295" lvl="1" indent="-165148" algn="l">
              <a:lnSpc>
                <a:spcPts val="1835"/>
              </a:lnSpc>
              <a:spcBef>
                <a:spcPct val="0"/>
              </a:spcBef>
              <a:buFont typeface="Arial"/>
              <a:buChar char="•"/>
            </a:pPr>
            <a:r>
              <a:rPr lang="en-US" sz="152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Fish, Fruits, and Sweets are most tightly linked</a:t>
            </a:r>
            <a:r>
              <a:rPr lang="en-US" sz="152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MntFishProducts correlates strongly with both MntFruits (0.59) and MntSweetProducts (0.58), hinting at a shared customer group with broader discretionary/gourmet purchasing habits.</a:t>
            </a:r>
          </a:p>
          <a:p>
            <a:pPr marL="330295" lvl="1" indent="-165148" algn="l">
              <a:lnSpc>
                <a:spcPts val="1835"/>
              </a:lnSpc>
              <a:spcBef>
                <a:spcPct val="0"/>
              </a:spcBef>
              <a:buFont typeface="Arial"/>
              <a:buChar char="•"/>
            </a:pPr>
            <a:r>
              <a:rPr lang="en-US" sz="1529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GoldProds is the most independent category</a:t>
            </a:r>
            <a:r>
              <a:rPr lang="en-US" sz="1529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MntGoldProds has the weakest correlations with every other category (0.36–0.43), suggesting it's driven by a somewhat distinct purchasing motive rather than general spending level.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4388712" y="2453739"/>
            <a:ext cx="5498238" cy="3718461"/>
          </a:xfrm>
          <a:custGeom>
            <a:avLst/>
            <a:gdLst/>
            <a:ahLst/>
            <a:cxnLst/>
            <a:rect l="l" t="t" r="r" b="b"/>
            <a:pathLst>
              <a:path w="5498238" h="3718461">
                <a:moveTo>
                  <a:pt x="0" y="0"/>
                </a:moveTo>
                <a:lnTo>
                  <a:pt x="5498238" y="0"/>
                </a:lnTo>
                <a:lnTo>
                  <a:pt x="5498238" y="3718461"/>
                </a:lnTo>
                <a:lnTo>
                  <a:pt x="0" y="3718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6268" y="1669606"/>
            <a:ext cx="4086516" cy="4313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718" lvl="1" indent="-196859" algn="l">
              <a:lnSpc>
                <a:spcPts val="2188"/>
              </a:lnSpc>
              <a:spcBef>
                <a:spcPct val="0"/>
              </a:spcBef>
              <a:buFont typeface="Arial"/>
              <a:buChar char="•"/>
            </a:pPr>
            <a:r>
              <a:rPr lang="en-US" sz="182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Bimodal-like distribution</a:t>
            </a:r>
            <a:r>
              <a:rPr lang="en-US" sz="182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A large spike of ~650 customers falls in the lowest spending bracket (near 0), followed by a smaller secondary bump around 900–1200, suggesting at least two distinct customer segments — low spenders and moderate/high spenders.</a:t>
            </a:r>
          </a:p>
          <a:p>
            <a:pPr marL="393718" lvl="1" indent="-196859" algn="l">
              <a:lnSpc>
                <a:spcPts val="2188"/>
              </a:lnSpc>
              <a:spcBef>
                <a:spcPct val="0"/>
              </a:spcBef>
              <a:buFont typeface="Arial"/>
              <a:buChar char="•"/>
            </a:pPr>
            <a:r>
              <a:rPr lang="en-US" sz="182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Right-skewed overall</a:t>
            </a:r>
            <a:r>
              <a:rPr lang="en-US" sz="1823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The distribution has a long tail extending to ~2500, meaning most customers spend relatively little while a smaller group of high-value customers drives disproportionately more revenue.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3968073" y="2105968"/>
            <a:ext cx="5796799" cy="3644654"/>
          </a:xfrm>
          <a:custGeom>
            <a:avLst/>
            <a:gdLst/>
            <a:ahLst/>
            <a:cxnLst/>
            <a:rect l="l" t="t" r="r" b="b"/>
            <a:pathLst>
              <a:path w="5796799" h="3644654">
                <a:moveTo>
                  <a:pt x="0" y="0"/>
                </a:moveTo>
                <a:lnTo>
                  <a:pt x="5796799" y="0"/>
                </a:lnTo>
                <a:lnTo>
                  <a:pt x="5796799" y="3644654"/>
                </a:lnTo>
                <a:lnTo>
                  <a:pt x="0" y="364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390590"/>
            <a:ext cx="3888292" cy="447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3761" lvl="1" indent="-171880" algn="l">
              <a:lnSpc>
                <a:spcPts val="1910"/>
              </a:lnSpc>
              <a:spcBef>
                <a:spcPct val="0"/>
              </a:spcBef>
              <a:buFont typeface="Arial"/>
              <a:buChar char="•"/>
            </a:pPr>
            <a:r>
              <a:rPr lang="en-US" sz="1592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Wines lead by a wide margin</a:t>
            </a:r>
            <a:r>
              <a:rPr lang="en-US" sz="159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MntWines accounts for roughly 675K in total spending — nearly double the next highest category — making it the single largest revenue contributor across all customers.</a:t>
            </a:r>
          </a:p>
          <a:p>
            <a:pPr marL="343761" lvl="1" indent="-171880" algn="l">
              <a:lnSpc>
                <a:spcPts val="1910"/>
              </a:lnSpc>
              <a:spcBef>
                <a:spcPct val="0"/>
              </a:spcBef>
              <a:buFont typeface="Arial"/>
              <a:buChar char="•"/>
            </a:pPr>
            <a:r>
              <a:rPr lang="en-US" sz="1592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Wine and Meat dominate combined revenue</a:t>
            </a:r>
            <a:r>
              <a:rPr lang="en-US" sz="159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Together, MntWines and MntMeatProducts make up the majority of total spending, while the remaining four categories (Gold, Fish, Sweets, Fruits) each contribute under 100K.</a:t>
            </a:r>
          </a:p>
          <a:p>
            <a:pPr marL="343761" lvl="1" indent="-171880" algn="l">
              <a:lnSpc>
                <a:spcPts val="1910"/>
              </a:lnSpc>
              <a:spcBef>
                <a:spcPct val="0"/>
              </a:spcBef>
              <a:buFont typeface="Arial"/>
              <a:buChar char="•"/>
            </a:pPr>
            <a:r>
              <a:rPr lang="en-US" sz="1592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Long tail of minor categories</a:t>
            </a:r>
            <a:r>
              <a:rPr lang="en-US" sz="1592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GoldProds, FishProducts, SweetProducts, and Fruits are clustered closely together at the low end, indicating these are niche or add-on purchases rather than core revenue drivers.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60149" y="3232227"/>
            <a:ext cx="8641001" cy="3094573"/>
          </a:xfrm>
          <a:custGeom>
            <a:avLst/>
            <a:gdLst/>
            <a:ahLst/>
            <a:cxnLst/>
            <a:rect l="l" t="t" r="r" b="b"/>
            <a:pathLst>
              <a:path w="8641001" h="3094573">
                <a:moveTo>
                  <a:pt x="0" y="0"/>
                </a:moveTo>
                <a:lnTo>
                  <a:pt x="8641001" y="0"/>
                </a:lnTo>
                <a:lnTo>
                  <a:pt x="8641001" y="3094573"/>
                </a:lnTo>
                <a:lnTo>
                  <a:pt x="0" y="3094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254047"/>
            <a:ext cx="9799602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7760" lvl="1" indent="-158880" algn="l">
              <a:lnSpc>
                <a:spcPts val="1766"/>
              </a:lnSpc>
              <a:spcBef>
                <a:spcPct val="0"/>
              </a:spcBef>
              <a:buFont typeface="Arial"/>
              <a:buChar char="•"/>
            </a:pPr>
            <a:r>
              <a:rPr lang="en-US" sz="147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Most households have no children</a:t>
            </a:r>
            <a:r>
              <a:rPr lang="en-US" sz="147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The majority of customers have 0 kids or teens at home (~1,280 and ~1,150 respectively), while very few (under 50) have 2 — indicating the customer base skews toward smaller households.</a:t>
            </a:r>
          </a:p>
          <a:p>
            <a:pPr marL="317760" lvl="1" indent="-158880" algn="l">
              <a:lnSpc>
                <a:spcPts val="1766"/>
              </a:lnSpc>
              <a:spcBef>
                <a:spcPct val="0"/>
              </a:spcBef>
              <a:buFont typeface="Arial"/>
              <a:buChar char="•"/>
            </a:pPr>
            <a:r>
              <a:rPr lang="en-US" sz="147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Similar distribution pattern for kids and teens</a:t>
            </a:r>
            <a:r>
              <a:rPr lang="en-US" sz="147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Both features follow the same shape — highest at 0, moderate at 1 (~880 and ~1,020), and rare at 2 — suggesting Kidhome and Teenhome could behave similarly as segmentation or predictive features.</a:t>
            </a:r>
          </a:p>
          <a:p>
            <a:pPr marL="317760" lvl="1" indent="-158880" algn="l">
              <a:lnSpc>
                <a:spcPts val="1766"/>
              </a:lnSpc>
              <a:spcBef>
                <a:spcPct val="0"/>
              </a:spcBef>
              <a:buFont typeface="Arial"/>
              <a:buChar char="•"/>
            </a:pPr>
            <a:r>
              <a:rPr lang="en-US" sz="147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Potential for feature engineering</a:t>
            </a:r>
            <a:r>
              <a:rPr lang="en-US" sz="147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Given their similar distributions and low variance at the high end, Kidhome and Teenhome could be combined into a single "total dependents at home" feature to simplify the model while retaining the household-size signal.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4011696" y="2197753"/>
            <a:ext cx="5875254" cy="3974447"/>
          </a:xfrm>
          <a:custGeom>
            <a:avLst/>
            <a:gdLst/>
            <a:ahLst/>
            <a:cxnLst/>
            <a:rect l="l" t="t" r="r" b="b"/>
            <a:pathLst>
              <a:path w="5875254" h="3974447">
                <a:moveTo>
                  <a:pt x="0" y="0"/>
                </a:moveTo>
                <a:lnTo>
                  <a:pt x="5875254" y="0"/>
                </a:lnTo>
                <a:lnTo>
                  <a:pt x="5875254" y="3974447"/>
                </a:lnTo>
                <a:lnTo>
                  <a:pt x="0" y="3974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88" y="1562322"/>
            <a:ext cx="3761113" cy="4459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5589" lvl="1" indent="-162794" algn="l">
              <a:lnSpc>
                <a:spcPts val="1809"/>
              </a:lnSpc>
              <a:spcBef>
                <a:spcPct val="0"/>
              </a:spcBef>
              <a:buFont typeface="Arial"/>
              <a:buChar char="•"/>
            </a:pPr>
            <a:r>
              <a:rPr lang="en-US" sz="150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Spending drops sharply with more children</a:t>
            </a:r>
            <a:r>
              <a:rPr lang="en-US" sz="150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Customers with 0 children spend far more (median ~1,200) compared to those with 1 (~300), 2, or 3 children (both under ~100), showing a strong inverse relationship between household size and spending.</a:t>
            </a:r>
          </a:p>
          <a:p>
            <a:pPr marL="325589" lvl="1" indent="-162794" algn="l">
              <a:lnSpc>
                <a:spcPts val="1809"/>
              </a:lnSpc>
              <a:spcBef>
                <a:spcPct val="0"/>
              </a:spcBef>
              <a:buFont typeface="Arial"/>
              <a:buChar char="•"/>
            </a:pPr>
            <a:r>
              <a:rPr lang="en-US" sz="150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Highest variability among childless customers</a:t>
            </a:r>
            <a:r>
              <a:rPr lang="en-US" sz="150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The 0-children group has the widest spread (up to ~2,500) with no outliers, suggesting this segment includes both budget and high-value customers.</a:t>
            </a:r>
          </a:p>
          <a:p>
            <a:pPr marL="325589" lvl="1" indent="-162794" algn="l">
              <a:lnSpc>
                <a:spcPts val="1809"/>
              </a:lnSpc>
              <a:spcBef>
                <a:spcPct val="0"/>
              </a:spcBef>
              <a:buFont typeface="Arial"/>
              <a:buChar char="•"/>
            </a:pPr>
            <a:r>
              <a:rPr lang="en-US" sz="1508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Outliers persist in larger households</a:t>
            </a:r>
            <a:r>
              <a:rPr lang="en-US" sz="1508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Despite lower overall spending, customers with 1–3 children still show occasional high-spending outliers (up to ~2,200), indicating a small subset of large families that remain valuable customers worth targeting.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2476347" y="3016558"/>
            <a:ext cx="4290278" cy="3078580"/>
          </a:xfrm>
          <a:custGeom>
            <a:avLst/>
            <a:gdLst/>
            <a:ahLst/>
            <a:cxnLst/>
            <a:rect l="l" t="t" r="r" b="b"/>
            <a:pathLst>
              <a:path w="4290278" h="3078580">
                <a:moveTo>
                  <a:pt x="0" y="0"/>
                </a:moveTo>
                <a:lnTo>
                  <a:pt x="4290278" y="0"/>
                </a:lnTo>
                <a:lnTo>
                  <a:pt x="4290278" y="3078580"/>
                </a:lnTo>
                <a:lnTo>
                  <a:pt x="0" y="307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999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2015993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2697" y="1317496"/>
            <a:ext cx="9734878" cy="130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5538" lvl="1" indent="-152769" algn="l">
              <a:lnSpc>
                <a:spcPts val="1698"/>
              </a:lnSpc>
              <a:spcBef>
                <a:spcPct val="0"/>
              </a:spcBef>
              <a:buFont typeface="Arial"/>
              <a:buChar char="•"/>
            </a:pPr>
            <a:r>
              <a:rPr lang="en-US" sz="1415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Extreme income outlier detected</a:t>
            </a:r>
            <a:r>
              <a:rPr lang="en-US" sz="1415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One customer reports an income near 660,000, far beyond the rest of the distribution (which is mostly clustered under 150,000) — a likely data entry error or genuine extreme value that needs handling before modeling.</a:t>
            </a:r>
          </a:p>
          <a:p>
            <a:pPr marL="305538" lvl="1" indent="-152769" algn="l">
              <a:lnSpc>
                <a:spcPts val="1698"/>
              </a:lnSpc>
              <a:spcBef>
                <a:spcPct val="0"/>
              </a:spcBef>
              <a:buFont typeface="Arial"/>
              <a:buChar char="•"/>
            </a:pPr>
            <a:r>
              <a:rPr lang="en-US" sz="1415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Otherwise well-behaved distributions</a:t>
            </a:r>
            <a:r>
              <a:rPr lang="en-US" sz="1415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Excluding these extreme outliers, both Income and Age show reasonably tight, symmetric spreads, meaning a simple outlier removal/capping step should be sufficient to clean the data for clustering.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54100" y="1283409"/>
            <a:ext cx="7543800" cy="4888791"/>
          </a:xfrm>
          <a:custGeom>
            <a:avLst/>
            <a:gdLst/>
            <a:ahLst/>
            <a:cxnLst/>
            <a:rect l="l" t="t" r="r" b="b"/>
            <a:pathLst>
              <a:path w="6583296" h="4888791">
                <a:moveTo>
                  <a:pt x="0" y="0"/>
                </a:moveTo>
                <a:lnTo>
                  <a:pt x="6583296" y="0"/>
                </a:lnTo>
                <a:lnTo>
                  <a:pt x="6583296" y="4888791"/>
                </a:lnTo>
                <a:lnTo>
                  <a:pt x="0" y="4888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700471" y="1229011"/>
            <a:ext cx="6707410" cy="4985180"/>
          </a:xfrm>
          <a:custGeom>
            <a:avLst/>
            <a:gdLst/>
            <a:ahLst/>
            <a:cxnLst/>
            <a:rect l="l" t="t" r="r" b="b"/>
            <a:pathLst>
              <a:path w="6707410" h="4985180">
                <a:moveTo>
                  <a:pt x="0" y="0"/>
                </a:moveTo>
                <a:lnTo>
                  <a:pt x="6707410" y="0"/>
                </a:lnTo>
                <a:lnTo>
                  <a:pt x="6707410" y="4985180"/>
                </a:lnTo>
                <a:lnTo>
                  <a:pt x="0" y="4985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3655658" y="2675268"/>
            <a:ext cx="6231292" cy="3404805"/>
          </a:xfrm>
          <a:custGeom>
            <a:avLst/>
            <a:gdLst/>
            <a:ahLst/>
            <a:cxnLst/>
            <a:rect l="l" t="t" r="r" b="b"/>
            <a:pathLst>
              <a:path w="6231292" h="3404805">
                <a:moveTo>
                  <a:pt x="0" y="0"/>
                </a:moveTo>
                <a:lnTo>
                  <a:pt x="6231292" y="0"/>
                </a:lnTo>
                <a:lnTo>
                  <a:pt x="6231292" y="3404806"/>
                </a:lnTo>
                <a:lnTo>
                  <a:pt x="0" y="34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88" y="1303234"/>
            <a:ext cx="3275805" cy="4868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4288" lvl="1" indent="-137144" algn="l">
              <a:lnSpc>
                <a:spcPts val="1524"/>
              </a:lnSpc>
              <a:spcBef>
                <a:spcPct val="0"/>
              </a:spcBef>
              <a:buFont typeface="Arial"/>
              <a:buChar char="•"/>
            </a:pPr>
            <a:r>
              <a:rPr lang="en-US" sz="12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Income is the strongest driver of spending</a:t>
            </a:r>
            <a:r>
              <a:rPr lang="en-US" sz="12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Income correlates very strongly with total_spending (0.79) and individual categories like MntWines (0.69) and MntMeatProducts (0.69), confirming it as the single most important predictor of customer value.</a:t>
            </a:r>
          </a:p>
          <a:p>
            <a:pPr marL="274288" lvl="1" indent="-137144" algn="l">
              <a:lnSpc>
                <a:spcPts val="1524"/>
              </a:lnSpc>
              <a:spcBef>
                <a:spcPct val="0"/>
              </a:spcBef>
              <a:buFont typeface="Arial"/>
              <a:buChar char="•"/>
            </a:pPr>
            <a:r>
              <a:rPr lang="en-US" sz="12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Children reduce spending and web dependence</a:t>
            </a:r>
            <a:r>
              <a:rPr lang="en-US" sz="12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Kidhome and Teenhome are negatively correlated with total_spending and most Mnt categories, but positively correlated with NumWebVisitsMonth (0.45, 0.36) and NumDealsPurchases — suggesting parents browse more but spend less, and are more deal-sensitive.</a:t>
            </a:r>
          </a:p>
          <a:p>
            <a:pPr marL="274288" lvl="1" indent="-137144" algn="l">
              <a:lnSpc>
                <a:spcPts val="1524"/>
              </a:lnSpc>
              <a:spcBef>
                <a:spcPct val="0"/>
              </a:spcBef>
              <a:buFont typeface="Arial"/>
              <a:buChar char="•"/>
            </a:pPr>
            <a:r>
              <a:rPr lang="en-US" sz="127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Catalog purchases signal high-value customers</a:t>
            </a:r>
            <a:r>
              <a:rPr lang="en-US" sz="127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NumCatalogPurchases shows strong ties to Income (0.7), total_spending (0.78), and MntMeatProducts (0.73), making it one of the clearest behavioral indicators of a high-spending customer segment — more so than NumWebVisitsMonth, which is negatively correlated with spending overall.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5146339" y="1257247"/>
            <a:ext cx="4634632" cy="4914953"/>
          </a:xfrm>
          <a:custGeom>
            <a:avLst/>
            <a:gdLst/>
            <a:ahLst/>
            <a:cxnLst/>
            <a:rect l="l" t="t" r="r" b="b"/>
            <a:pathLst>
              <a:path w="4634632" h="4914953">
                <a:moveTo>
                  <a:pt x="0" y="0"/>
                </a:moveTo>
                <a:lnTo>
                  <a:pt x="4634632" y="0"/>
                </a:lnTo>
                <a:lnTo>
                  <a:pt x="4634632" y="4914953"/>
                </a:lnTo>
                <a:lnTo>
                  <a:pt x="0" y="49149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88" y="1219147"/>
            <a:ext cx="4397324" cy="4953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4826" lvl="1" indent="-172413" algn="l">
              <a:lnSpc>
                <a:spcPts val="19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Wine and meat spending are the top predictors</a:t>
            </a:r>
            <a:r>
              <a:rPr lang="en-US" sz="1597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MntWines (0.89) and MntMeatProducts (0.85) show the strongest correlations with total_spending, meaning these two categories largely drive overall spending totals — likely because they're the two highest-volume categories.</a:t>
            </a:r>
          </a:p>
          <a:p>
            <a:pPr marL="344826" lvl="1" indent="-172413" algn="l">
              <a:lnSpc>
                <a:spcPts val="19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Household composition negatively impacts spending</a:t>
            </a:r>
            <a:r>
              <a:rPr lang="en-US" sz="1597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Kidhome (-0.56) and total_children (-0.5) are the strongest negative correlates, reinforcing that customers with children spend significantly less overall than those without.</a:t>
            </a:r>
          </a:p>
          <a:p>
            <a:pPr marL="344826" lvl="1" indent="-172413" algn="l">
              <a:lnSpc>
                <a:spcPts val="19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Purchase channel matters more than browsing</a:t>
            </a:r>
            <a:r>
              <a:rPr lang="en-US" sz="1597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NumCatalogPurchases (0.78) and NumStorePurchases (0.68) correlate much more strongly with spending than NumWebVisitsMonth (-0.5), suggesting that customers who buy through catalog/store channels are higher-value than those who merely browse online frequently.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4124205" y="1767516"/>
            <a:ext cx="5765955" cy="4404684"/>
          </a:xfrm>
          <a:custGeom>
            <a:avLst/>
            <a:gdLst/>
            <a:ahLst/>
            <a:cxnLst/>
            <a:rect l="l" t="t" r="r" b="b"/>
            <a:pathLst>
              <a:path w="5765955" h="4404684">
                <a:moveTo>
                  <a:pt x="0" y="0"/>
                </a:moveTo>
                <a:lnTo>
                  <a:pt x="5765955" y="0"/>
                </a:lnTo>
                <a:lnTo>
                  <a:pt x="5765955" y="4404684"/>
                </a:lnTo>
                <a:lnTo>
                  <a:pt x="0" y="4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34" y="1263157"/>
            <a:ext cx="3923125" cy="483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3149" lvl="1" indent="-176574" algn="l">
              <a:lnSpc>
                <a:spcPts val="1962"/>
              </a:lnSpc>
              <a:spcBef>
                <a:spcPct val="0"/>
              </a:spcBef>
              <a:buFont typeface="Arial"/>
              <a:buChar char="•"/>
            </a:pPr>
            <a:r>
              <a:rPr lang="en-US" sz="1635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Income rises steadily with age</a:t>
            </a:r>
            <a:r>
              <a:rPr lang="en-US" sz="163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Average income increases consistently from the 19-29 group (~46K) to the 50-69 group (~58K), reflecting typical career progression and earning potential over time.</a:t>
            </a:r>
          </a:p>
          <a:p>
            <a:pPr marL="353149" lvl="1" indent="-176574" algn="l">
              <a:lnSpc>
                <a:spcPts val="1962"/>
              </a:lnSpc>
              <a:spcBef>
                <a:spcPct val="0"/>
              </a:spcBef>
              <a:buFont typeface="Arial"/>
              <a:buChar char="•"/>
            </a:pPr>
            <a:r>
              <a:rPr lang="en-US" sz="1635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Older age groups (50-69) are the highest earners</a:t>
            </a:r>
            <a:r>
              <a:rPr lang="en-US" sz="163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This oldest bracket has the highest average income, making it a potentially valuable segment to target with premium offerings.</a:t>
            </a:r>
          </a:p>
          <a:p>
            <a:pPr marL="353149" lvl="1" indent="-176574" algn="l">
              <a:lnSpc>
                <a:spcPts val="1962"/>
              </a:lnSpc>
              <a:spcBef>
                <a:spcPct val="0"/>
              </a:spcBef>
              <a:buFont typeface="Arial"/>
              <a:buChar char="•"/>
            </a:pPr>
            <a:r>
              <a:rPr lang="en-US" sz="1635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Youngest group has the lowest income, but the gap is moderate</a:t>
            </a:r>
            <a:r>
              <a:rPr lang="en-US" sz="163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The difference between the highest and lowest age groups is only about 12K, suggesting income alone may not sharply differentiate age-based segments — other behavioral features may be needed for finer segmentation.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933755" y="2945304"/>
            <a:ext cx="6009954" cy="3268887"/>
          </a:xfrm>
          <a:custGeom>
            <a:avLst/>
            <a:gdLst/>
            <a:ahLst/>
            <a:cxnLst/>
            <a:rect l="l" t="t" r="r" b="b"/>
            <a:pathLst>
              <a:path w="6009954" h="3268887">
                <a:moveTo>
                  <a:pt x="0" y="0"/>
                </a:moveTo>
                <a:lnTo>
                  <a:pt x="6009953" y="0"/>
                </a:lnTo>
                <a:lnTo>
                  <a:pt x="6009953" y="3268887"/>
                </a:lnTo>
                <a:lnTo>
                  <a:pt x="0" y="3268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179574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Graphs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84254" y="1286501"/>
            <a:ext cx="9971204" cy="1531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729" lvl="1" indent="-153864" algn="l">
              <a:lnSpc>
                <a:spcPts val="1710"/>
              </a:lnSpc>
              <a:spcBef>
                <a:spcPct val="0"/>
              </a:spcBef>
              <a:buFont typeface="Arial"/>
              <a:buChar char="•"/>
            </a:pPr>
            <a:r>
              <a:rPr lang="en-US" sz="1425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Wine spending grows steadily with age</a:t>
            </a:r>
            <a:r>
              <a:rPr lang="en-US" sz="142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MntWines rises consistently across age groups, from ~245 in the 19-29 bracket to ~380 in the 50-69 bracket, making older customers the strongest wine buyers.</a:t>
            </a:r>
          </a:p>
          <a:p>
            <a:pPr marL="307729" lvl="1" indent="-153864" algn="l">
              <a:lnSpc>
                <a:spcPts val="1710"/>
              </a:lnSpc>
              <a:spcBef>
                <a:spcPct val="0"/>
              </a:spcBef>
              <a:buFont typeface="Arial"/>
              <a:buChar char="•"/>
            </a:pPr>
            <a:r>
              <a:rPr lang="en-US" sz="1425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Meat spending peaks in youngest and oldest groups</a:t>
            </a:r>
            <a:r>
              <a:rPr lang="en-US" sz="142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MntMeatProducts is highest for 19-29 (~175) and 50-69 (~195), but dips for 30-39 and 40-50, suggesting a non-linear relationship rather than a simple age trend.</a:t>
            </a:r>
          </a:p>
          <a:p>
            <a:pPr marL="307729" lvl="1" indent="-153864" algn="l">
              <a:lnSpc>
                <a:spcPts val="1710"/>
              </a:lnSpc>
              <a:spcBef>
                <a:spcPct val="0"/>
              </a:spcBef>
              <a:buFont typeface="Arial"/>
              <a:buChar char="•"/>
            </a:pPr>
            <a:r>
              <a:rPr lang="en-US" sz="1425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Minor categories remain flat across ages</a:t>
            </a:r>
            <a:r>
              <a:rPr lang="en-US" sz="1425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MntFruits, MntFishProducts, MntSweetProducts, and MntGoldProds show relatively small, stable spending levels across all age groups, indicating age isn't a strong driver for these discretionary categories — wine and meat are where age-based targeting would have the most impact.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10" y="2869578"/>
            <a:ext cx="8013859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cleaning &amp; Pre-processing </a:t>
            </a:r>
          </a:p>
        </p:txBody>
      </p:sp>
      <p:sp>
        <p:nvSpPr>
          <p:cNvPr id="4" name="AutoShape 4"/>
          <p:cNvSpPr/>
          <p:nvPr/>
        </p:nvSpPr>
        <p:spPr>
          <a:xfrm>
            <a:off x="-805512" y="3438525"/>
            <a:ext cx="2944982" cy="28579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12619" y="1670893"/>
          <a:ext cx="5123916" cy="1962152"/>
        </p:xfrm>
        <a:graphic>
          <a:graphicData uri="http://schemas.openxmlformats.org/drawingml/2006/table">
            <a:tbl>
              <a:tblPr/>
              <a:tblGrid>
                <a:gridCol w="1449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2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538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Column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Type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Reason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ID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Identifier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It has no analytical value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Z_CostContact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Constant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One constant value for all rows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538"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Z_Revenue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Constant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540"/>
                        </a:lnSpc>
                        <a:defRPr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One constant value for all rows</a:t>
                      </a:r>
                      <a:endParaRPr lang="en-US" sz="1100"/>
                    </a:p>
                  </a:txBody>
                  <a:tcPr marL="133350" marR="133350" marT="133350" marB="13335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188" y="354758"/>
            <a:ext cx="6730394" cy="75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9"/>
              </a:lnSpc>
            </a:pPr>
            <a:r>
              <a:rPr lang="en-US" sz="4398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Data Cleaning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61420" y="1261333"/>
            <a:ext cx="4580429" cy="409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399" b="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Arial MT Pro Bold"/>
                <a:ea typeface="Arial MT Pro Bold"/>
                <a:cs typeface="Arial MT Pro Bold"/>
                <a:sym typeface="Arial MT Pro Bold"/>
              </a:rPr>
              <a:t>Delete unnecessary columns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0149" y="3824412"/>
            <a:ext cx="8939455" cy="2146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6042" lvl="1" indent="-188021" algn="l">
              <a:lnSpc>
                <a:spcPts val="2090"/>
              </a:lnSpc>
              <a:buFont typeface="Arial"/>
              <a:buChar char="•"/>
            </a:pPr>
            <a:r>
              <a:rPr lang="en-US" sz="174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Missing values: Checked null values per column, found a small percentage (mainly in Income), so we dropped them since the impact on the data was minimal.</a:t>
            </a:r>
          </a:p>
          <a:p>
            <a:pPr algn="l">
              <a:lnSpc>
                <a:spcPts val="2090"/>
              </a:lnSpc>
            </a:pPr>
            <a:endParaRPr lang="en-US" sz="1741" b="1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376042" lvl="1" indent="-188021" algn="l">
              <a:lnSpc>
                <a:spcPts val="2090"/>
              </a:lnSpc>
              <a:buFont typeface="Arial"/>
              <a:buChar char="•"/>
            </a:pPr>
            <a:r>
              <a:rPr lang="en-US" sz="174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Duplicates: Checked for duplicate rows — none found.</a:t>
            </a:r>
          </a:p>
          <a:p>
            <a:pPr algn="l">
              <a:lnSpc>
                <a:spcPts val="2090"/>
              </a:lnSpc>
            </a:pPr>
            <a:endParaRPr lang="en-US" sz="1741" b="1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376042" lvl="1" indent="-188021" algn="l">
              <a:lnSpc>
                <a:spcPts val="2090"/>
              </a:lnSpc>
              <a:buFont typeface="Arial"/>
              <a:buChar char="•"/>
            </a:pPr>
            <a:r>
              <a:rPr lang="en-US" sz="1741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 type conversion: Dt_Customer was a string, converted to datetime, and split into separate Day / Month / Year columns.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085" y="117492"/>
            <a:ext cx="9902857" cy="901669"/>
            <a:chOff x="0" y="0"/>
            <a:chExt cx="13203809" cy="1202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202226"/>
            </a:xfrm>
            <a:custGeom>
              <a:avLst/>
              <a:gdLst/>
              <a:ahLst/>
              <a:cxnLst/>
              <a:rect l="l" t="t" r="r" b="b"/>
              <a:pathLst>
                <a:path w="13203810" h="1202226">
                  <a:moveTo>
                    <a:pt x="0" y="0"/>
                  </a:moveTo>
                  <a:lnTo>
                    <a:pt x="13203810" y="0"/>
                  </a:lnTo>
                  <a:lnTo>
                    <a:pt x="13203810" y="1202226"/>
                  </a:lnTo>
                  <a:lnTo>
                    <a:pt x="0" y="1202226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4290" y="133774"/>
            <a:ext cx="7783936" cy="88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5"/>
              </a:lnSpc>
            </a:pPr>
            <a:r>
              <a:rPr lang="en-US" sz="5087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517896"/>
            <a:ext cx="9722482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Feature Engineering</a:t>
            </a:r>
          </a:p>
          <a:p>
            <a:pPr marL="817961" lvl="2" indent="-272654" algn="l">
              <a:lnSpc>
                <a:spcPts val="2273"/>
              </a:lnSpc>
              <a:buFont typeface="Arial"/>
              <a:buChar char="⚬"/>
            </a:pPr>
            <a:r>
              <a:rPr lang="en-US" sz="189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Acceptany (Campaign Acceptance):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Sum of all accepted campaigns (</a:t>
            </a:r>
            <a:r>
              <a:rPr lang="en-US" sz="1894" i="1">
                <a:solidFill>
                  <a:srgbClr val="000000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AcceptedCmp1-5 + Response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). Captures total responsiveness; </a:t>
            </a:r>
            <a:r>
              <a:rPr lang="en-US" sz="189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27.3%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of customers accepted at least one offer.</a:t>
            </a:r>
          </a:p>
          <a:p>
            <a:pPr marL="817961" lvl="2" indent="-272654" algn="l">
              <a:lnSpc>
                <a:spcPts val="2273"/>
              </a:lnSpc>
              <a:buFont typeface="Arial"/>
              <a:buChar char="⚬"/>
            </a:pPr>
            <a:endParaRPr lang="en-US" sz="1894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817961" lvl="2" indent="-272654" algn="l">
              <a:lnSpc>
                <a:spcPts val="2273"/>
              </a:lnSpc>
              <a:buFont typeface="Arial"/>
              <a:buChar char="⚬"/>
            </a:pPr>
            <a:r>
              <a:rPr lang="en-US" sz="189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Totalspending (Total Spending): 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Aggregates spending across all 6 product categories (Wines, Fruits, Meat, Fish, Sweets, Gold) into a single monetary value.</a:t>
            </a:r>
          </a:p>
          <a:p>
            <a:pPr algn="l">
              <a:lnSpc>
                <a:spcPts val="2273"/>
              </a:lnSpc>
            </a:pPr>
            <a:endParaRPr lang="en-US" sz="1894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817961" lvl="2" indent="-272654" algn="l">
              <a:lnSpc>
                <a:spcPts val="2273"/>
              </a:lnSpc>
              <a:buFont typeface="Arial"/>
              <a:buChar char="⚬"/>
            </a:pPr>
            <a:r>
              <a:rPr lang="en-US" sz="189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Total children (Total Children): 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Combines Kidhome + Teenhome to capture total household dependents.</a:t>
            </a:r>
          </a:p>
          <a:p>
            <a:pPr algn="l">
              <a:lnSpc>
                <a:spcPts val="2273"/>
              </a:lnSpc>
            </a:pPr>
            <a:endParaRPr lang="en-US" sz="1894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817961" lvl="2" indent="-272654" algn="l">
              <a:lnSpc>
                <a:spcPts val="2273"/>
              </a:lnSpc>
              <a:buFont typeface="Arial"/>
              <a:buChar char="⚬"/>
            </a:pPr>
            <a:r>
              <a:rPr lang="en-US" sz="189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age_group (Age Bins): 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Categorizes continuous Age into 5 age brackets </a:t>
            </a:r>
            <a:r>
              <a:rPr lang="en-US" sz="189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(19–29,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189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30–39, 40–50, 50–69, 70+</a:t>
            </a:r>
            <a:r>
              <a:rPr lang="en-US" sz="1894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 to enable demographic segmentation.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902857" cy="901669"/>
            <a:chOff x="0" y="0"/>
            <a:chExt cx="13203809" cy="1202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202226"/>
            </a:xfrm>
            <a:custGeom>
              <a:avLst/>
              <a:gdLst/>
              <a:ahLst/>
              <a:cxnLst/>
              <a:rect l="l" t="t" r="r" b="b"/>
              <a:pathLst>
                <a:path w="13203810" h="1202226">
                  <a:moveTo>
                    <a:pt x="0" y="0"/>
                  </a:moveTo>
                  <a:lnTo>
                    <a:pt x="13203810" y="0"/>
                  </a:lnTo>
                  <a:lnTo>
                    <a:pt x="13203810" y="1202226"/>
                  </a:lnTo>
                  <a:lnTo>
                    <a:pt x="0" y="1202226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0656" y="68663"/>
            <a:ext cx="5240643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27"/>
              </a:lnSpc>
              <a:spcBef>
                <a:spcPct val="0"/>
              </a:spcBef>
            </a:pPr>
            <a:r>
              <a:rPr lang="en-US" sz="518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Preprocessing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6632" y="999524"/>
            <a:ext cx="9004518" cy="540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7708" lvl="1" indent="-203854" algn="l">
              <a:lnSpc>
                <a:spcPts val="2266"/>
              </a:lnSpc>
              <a:buFont typeface="Arial"/>
              <a:buChar char="•"/>
            </a:pPr>
            <a:r>
              <a:rPr lang="en-US" sz="188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Outlier Detection &amp; Handling</a:t>
            </a:r>
          </a:p>
          <a:p>
            <a:pPr marL="757557" lvl="2" indent="-252519" algn="l">
              <a:lnSpc>
                <a:spcPts val="2105"/>
              </a:lnSpc>
              <a:buFont typeface="Arial"/>
              <a:buChar char="⚬"/>
            </a:pP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Detected Outliers: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Identified erroneous extreme values in </a:t>
            </a: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Age (110–117)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and</a:t>
            </a: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Income(666,666 vs. next highest ~162,397)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likely due to data-entry errors.</a:t>
            </a:r>
          </a:p>
          <a:p>
            <a:pPr algn="l">
              <a:lnSpc>
                <a:spcPts val="2105"/>
              </a:lnSpc>
            </a:pPr>
            <a:endParaRPr lang="en-US" sz="1754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105"/>
              </a:lnSpc>
            </a:pPr>
            <a:endParaRPr lang="en-US" sz="1754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407706" lvl="1" indent="-203853" algn="l">
              <a:lnSpc>
                <a:spcPts val="2266"/>
              </a:lnSpc>
              <a:buFont typeface="Arial"/>
              <a:buChar char="•"/>
            </a:pPr>
            <a:r>
              <a:rPr lang="en-US" sz="1888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Encoding </a:t>
            </a:r>
          </a:p>
          <a:p>
            <a:pPr marL="757557" lvl="2" indent="-252519" algn="l">
              <a:lnSpc>
                <a:spcPts val="2105"/>
              </a:lnSpc>
              <a:buFont typeface="Arial"/>
              <a:buChar char="⚬"/>
            </a:pP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Ordinal Encoding (Education): 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Applied to capture the implicit rank/order among education levels (e.g., Basic &lt; Graduation &lt; Master &lt; PhD)</a:t>
            </a: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</a:t>
            </a:r>
          </a:p>
          <a:p>
            <a:pPr algn="l">
              <a:lnSpc>
                <a:spcPts val="2105"/>
              </a:lnSpc>
            </a:pPr>
            <a:endParaRPr lang="en-US" sz="1754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757557" lvl="2" indent="-252519" algn="l">
              <a:lnSpc>
                <a:spcPts val="2105"/>
              </a:lnSpc>
              <a:buFont typeface="Arial"/>
              <a:buChar char="⚬"/>
            </a:pP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One-Hot Encoding (Marital Status): 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Used for categorical values with no inherent order to prevent creating false numeric relationships.</a:t>
            </a:r>
          </a:p>
          <a:p>
            <a:pPr algn="l">
              <a:lnSpc>
                <a:spcPts val="2105"/>
              </a:lnSpc>
            </a:pPr>
            <a:endParaRPr lang="en-US" sz="1754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l">
              <a:lnSpc>
                <a:spcPts val="2105"/>
              </a:lnSpc>
            </a:pPr>
            <a:endParaRPr lang="en-US" sz="1754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414443" lvl="1" indent="-207222" algn="l">
              <a:lnSpc>
                <a:spcPts val="2303"/>
              </a:lnSpc>
              <a:buFont typeface="Arial"/>
              <a:buChar char="•"/>
            </a:pPr>
            <a:r>
              <a:rPr lang="en-US" sz="1919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Transformation (Skewness Correction)</a:t>
            </a:r>
          </a:p>
          <a:p>
            <a:pPr marL="757557" lvl="2" indent="-252519" algn="l">
              <a:lnSpc>
                <a:spcPts val="2105"/>
              </a:lnSpc>
              <a:buFont typeface="Arial"/>
              <a:buChar char="⚬"/>
            </a:pP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Skewness Detected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Spending variables showed strong right-skewness (Wines: 1.17, Gold: 1.84, Fish: 1.92, Meat: 2.03, Fruits &amp; Sweets: 2.10).</a:t>
            </a:r>
          </a:p>
          <a:p>
            <a:pPr algn="l">
              <a:lnSpc>
                <a:spcPts val="2105"/>
              </a:lnSpc>
            </a:pPr>
            <a:endParaRPr lang="en-US" sz="1754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757557" lvl="2" indent="-252519" algn="l">
              <a:lnSpc>
                <a:spcPts val="2105"/>
              </a:lnSpc>
              <a:buFont typeface="Arial"/>
              <a:buChar char="⚬"/>
            </a:pP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 Transformation (log1p): 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Applied</a:t>
            </a:r>
            <a:r>
              <a:rPr lang="en-US" sz="17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log(1 + x)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across all spending features (</a:t>
            </a:r>
            <a:r>
              <a:rPr lang="en-US" sz="1754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Mnt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* and </a:t>
            </a:r>
            <a:r>
              <a:rPr lang="en-US" sz="1754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total_spending</a:t>
            </a:r>
            <a:r>
              <a:rPr lang="en-US" sz="1754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) to reduce right-skewness and minimize outlier impact.</a:t>
            </a:r>
          </a:p>
          <a:p>
            <a:pPr algn="l">
              <a:lnSpc>
                <a:spcPts val="2105"/>
              </a:lnSpc>
            </a:pPr>
            <a:endParaRPr lang="en-US" sz="1754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5928" y="2724150"/>
            <a:ext cx="7499572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Machine Learning Model</a:t>
            </a:r>
          </a:p>
        </p:txBody>
      </p:sp>
      <p:sp>
        <p:nvSpPr>
          <p:cNvPr id="4" name="AutoShape 4"/>
          <p:cNvSpPr/>
          <p:nvPr/>
        </p:nvSpPr>
        <p:spPr>
          <a:xfrm rot="33360">
            <a:off x="-821417" y="3290983"/>
            <a:ext cx="2945120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51637" y="368335"/>
            <a:ext cx="10173972" cy="6187047"/>
          </a:xfrm>
          <a:custGeom>
            <a:avLst/>
            <a:gdLst/>
            <a:ahLst/>
            <a:cxnLst/>
            <a:rect l="l" t="t" r="r" b="b"/>
            <a:pathLst>
              <a:path w="10173972" h="6187047">
                <a:moveTo>
                  <a:pt x="0" y="0"/>
                </a:moveTo>
                <a:lnTo>
                  <a:pt x="10173971" y="0"/>
                </a:lnTo>
                <a:lnTo>
                  <a:pt x="10173971" y="6187046"/>
                </a:lnTo>
                <a:lnTo>
                  <a:pt x="0" y="6187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207745" y="347927"/>
            <a:ext cx="10187108" cy="6093164"/>
          </a:xfrm>
          <a:custGeom>
            <a:avLst/>
            <a:gdLst/>
            <a:ahLst/>
            <a:cxnLst/>
            <a:rect l="l" t="t" r="r" b="b"/>
            <a:pathLst>
              <a:path w="10187108" h="6093164">
                <a:moveTo>
                  <a:pt x="0" y="0"/>
                </a:moveTo>
                <a:lnTo>
                  <a:pt x="10187108" y="0"/>
                </a:lnTo>
                <a:lnTo>
                  <a:pt x="10187108" y="6093164"/>
                </a:lnTo>
                <a:lnTo>
                  <a:pt x="0" y="60931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697" y="342465"/>
            <a:ext cx="9800979" cy="5862211"/>
          </a:xfrm>
          <a:custGeom>
            <a:avLst/>
            <a:gdLst/>
            <a:ahLst/>
            <a:cxnLst/>
            <a:rect l="l" t="t" r="r" b="b"/>
            <a:pathLst>
              <a:path w="9800979" h="5862211">
                <a:moveTo>
                  <a:pt x="0" y="0"/>
                </a:moveTo>
                <a:lnTo>
                  <a:pt x="9800979" y="0"/>
                </a:lnTo>
                <a:lnTo>
                  <a:pt x="9800979" y="5862211"/>
                </a:lnTo>
                <a:lnTo>
                  <a:pt x="0" y="58622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48668" y="332341"/>
            <a:ext cx="10233160" cy="6223041"/>
          </a:xfrm>
          <a:custGeom>
            <a:avLst/>
            <a:gdLst/>
            <a:ahLst/>
            <a:cxnLst/>
            <a:rect l="l" t="t" r="r" b="b"/>
            <a:pathLst>
              <a:path w="10233160" h="6223041">
                <a:moveTo>
                  <a:pt x="0" y="0"/>
                </a:moveTo>
                <a:lnTo>
                  <a:pt x="10233160" y="0"/>
                </a:lnTo>
                <a:lnTo>
                  <a:pt x="10233160" y="6223040"/>
                </a:lnTo>
                <a:lnTo>
                  <a:pt x="0" y="6223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216545" y="180661"/>
            <a:ext cx="10106705" cy="6146140"/>
          </a:xfrm>
          <a:custGeom>
            <a:avLst/>
            <a:gdLst/>
            <a:ahLst/>
            <a:cxnLst/>
            <a:rect l="l" t="t" r="r" b="b"/>
            <a:pathLst>
              <a:path w="10106705" h="6146140">
                <a:moveTo>
                  <a:pt x="0" y="0"/>
                </a:moveTo>
                <a:lnTo>
                  <a:pt x="10106705" y="0"/>
                </a:lnTo>
                <a:lnTo>
                  <a:pt x="10106705" y="6146139"/>
                </a:lnTo>
                <a:lnTo>
                  <a:pt x="0" y="6146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59039" y="326034"/>
            <a:ext cx="10045989" cy="6109217"/>
          </a:xfrm>
          <a:custGeom>
            <a:avLst/>
            <a:gdLst/>
            <a:ahLst/>
            <a:cxnLst/>
            <a:rect l="l" t="t" r="r" b="b"/>
            <a:pathLst>
              <a:path w="10045989" h="6109217">
                <a:moveTo>
                  <a:pt x="0" y="0"/>
                </a:moveTo>
                <a:lnTo>
                  <a:pt x="10045989" y="0"/>
                </a:lnTo>
                <a:lnTo>
                  <a:pt x="10045989" y="6109217"/>
                </a:lnTo>
                <a:lnTo>
                  <a:pt x="0" y="6109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65100" y="240677"/>
            <a:ext cx="9904356" cy="6013150"/>
          </a:xfrm>
          <a:custGeom>
            <a:avLst/>
            <a:gdLst/>
            <a:ahLst/>
            <a:cxnLst/>
            <a:rect l="l" t="t" r="r" b="b"/>
            <a:pathLst>
              <a:path w="9904356" h="6013150">
                <a:moveTo>
                  <a:pt x="0" y="0"/>
                </a:moveTo>
                <a:lnTo>
                  <a:pt x="9904356" y="0"/>
                </a:lnTo>
                <a:lnTo>
                  <a:pt x="9904356" y="6013150"/>
                </a:lnTo>
                <a:lnTo>
                  <a:pt x="0" y="6013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57" b="-957"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6" name="TextBox 6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A527AD-1F55-6D4C-4447-000E931EF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5100" y="0"/>
            <a:ext cx="10597028" cy="7086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244" y="1358515"/>
            <a:ext cx="9651787" cy="4619244"/>
          </a:xfrm>
          <a:custGeom>
            <a:avLst/>
            <a:gdLst/>
            <a:ahLst/>
            <a:cxnLst/>
            <a:rect l="l" t="t" r="r" b="b"/>
            <a:pathLst>
              <a:path w="9651787" h="4619244">
                <a:moveTo>
                  <a:pt x="0" y="0"/>
                </a:moveTo>
                <a:lnTo>
                  <a:pt x="9651788" y="0"/>
                </a:lnTo>
                <a:lnTo>
                  <a:pt x="9651788" y="4619244"/>
                </a:lnTo>
                <a:lnTo>
                  <a:pt x="0" y="4619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5" r="-2373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2539" y="246221"/>
            <a:ext cx="6944767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DBSCAN (Deep Scan) Results</a:t>
            </a:r>
          </a:p>
          <a:p>
            <a:pPr algn="l">
              <a:lnSpc>
                <a:spcPts val="4800"/>
              </a:lnSpc>
            </a:pPr>
            <a:endParaRPr lang="en-US" sz="40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AutoShape 6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92100" y="314993"/>
            <a:ext cx="4236761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Charts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1398950"/>
            <a:ext cx="4607668" cy="4532501"/>
          </a:xfrm>
          <a:custGeom>
            <a:avLst/>
            <a:gdLst/>
            <a:ahLst/>
            <a:cxnLst/>
            <a:rect l="l" t="t" r="r" b="b"/>
            <a:pathLst>
              <a:path w="7029867" h="4358219">
                <a:moveTo>
                  <a:pt x="0" y="0"/>
                </a:moveTo>
                <a:lnTo>
                  <a:pt x="7029866" y="0"/>
                </a:lnTo>
                <a:lnTo>
                  <a:pt x="7029866" y="4358219"/>
                </a:lnTo>
                <a:lnTo>
                  <a:pt x="0" y="4358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7AD0C18E-90B0-E539-0E76-845B122EF904}"/>
              </a:ext>
            </a:extLst>
          </p:cNvPr>
          <p:cNvSpPr/>
          <p:nvPr/>
        </p:nvSpPr>
        <p:spPr>
          <a:xfrm>
            <a:off x="4956848" y="1389434"/>
            <a:ext cx="4724400" cy="4542017"/>
          </a:xfrm>
          <a:custGeom>
            <a:avLst/>
            <a:gdLst/>
            <a:ahLst/>
            <a:cxnLst/>
            <a:rect l="l" t="t" r="r" b="b"/>
            <a:pathLst>
              <a:path w="6956964" h="4298251">
                <a:moveTo>
                  <a:pt x="0" y="0"/>
                </a:moveTo>
                <a:lnTo>
                  <a:pt x="6956963" y="0"/>
                </a:lnTo>
                <a:lnTo>
                  <a:pt x="6956963" y="4298252"/>
                </a:lnTo>
                <a:lnTo>
                  <a:pt x="0" y="4298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471382" y="1328856"/>
            <a:ext cx="6934699" cy="4739494"/>
          </a:xfrm>
          <a:custGeom>
            <a:avLst/>
            <a:gdLst/>
            <a:ahLst/>
            <a:cxnLst/>
            <a:rect l="l" t="t" r="r" b="b"/>
            <a:pathLst>
              <a:path w="6934699" h="4739494">
                <a:moveTo>
                  <a:pt x="0" y="0"/>
                </a:moveTo>
                <a:lnTo>
                  <a:pt x="6934699" y="0"/>
                </a:lnTo>
                <a:lnTo>
                  <a:pt x="6934699" y="4739494"/>
                </a:lnTo>
                <a:lnTo>
                  <a:pt x="0" y="4739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322539" y="276212"/>
            <a:ext cx="2788961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Charts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0"/>
            <a:ext cx="9902857" cy="1197292"/>
            <a:chOff x="0" y="0"/>
            <a:chExt cx="13203809" cy="15963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03810" cy="1596390"/>
            </a:xfrm>
            <a:custGeom>
              <a:avLst/>
              <a:gdLst/>
              <a:ahLst/>
              <a:cxnLst/>
              <a:rect l="l" t="t" r="r" b="b"/>
              <a:pathLst>
                <a:path w="13203810" h="1596390">
                  <a:moveTo>
                    <a:pt x="0" y="0"/>
                  </a:moveTo>
                  <a:lnTo>
                    <a:pt x="13203810" y="0"/>
                  </a:lnTo>
                  <a:lnTo>
                    <a:pt x="13203810" y="1596390"/>
                  </a:lnTo>
                  <a:lnTo>
                    <a:pt x="0" y="1596390"/>
                  </a:lnTo>
                  <a:close/>
                </a:path>
              </a:pathLst>
            </a:custGeom>
            <a:solidFill>
              <a:srgbClr val="193EB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-255088" y="1279262"/>
            <a:ext cx="10397125" cy="4586533"/>
          </a:xfrm>
          <a:custGeom>
            <a:avLst/>
            <a:gdLst/>
            <a:ahLst/>
            <a:cxnLst/>
            <a:rect l="l" t="t" r="r" b="b"/>
            <a:pathLst>
              <a:path w="10397125" h="4586533">
                <a:moveTo>
                  <a:pt x="0" y="0"/>
                </a:moveTo>
                <a:lnTo>
                  <a:pt x="10397126" y="0"/>
                </a:lnTo>
                <a:lnTo>
                  <a:pt x="10397126" y="4586533"/>
                </a:lnTo>
                <a:lnTo>
                  <a:pt x="0" y="4586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322539" y="246221"/>
            <a:ext cx="5989361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Model Comparison</a:t>
            </a:r>
          </a:p>
        </p:txBody>
      </p:sp>
      <p:sp>
        <p:nvSpPr>
          <p:cNvPr id="6" name="AutoShape 6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7F7F7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00671" y="307612"/>
            <a:ext cx="3825629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-230723" y="1170190"/>
            <a:ext cx="10348396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382523" y="1569466"/>
            <a:ext cx="9150298" cy="4204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Customer segmentation successfully identified different behavioral and spending patterns among customers.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K-Means provided clear and structured customer groups.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DBSCAN added extra value by detecting outliers and unusual customer behavior.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Features such as income, spending, purchase channels, and campaign response were important in distinguishing customer segments.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final segmentation can support better targeting, personalized marketing, customer retention, and more efficient campaign decisions.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AutoShape 6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2595" y="6298225"/>
            <a:ext cx="2888790" cy="257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Innovation Campus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521930" y="250303"/>
            <a:ext cx="6075970" cy="638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Our Recommendation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2523" y="1569466"/>
            <a:ext cx="9150298" cy="4503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Focus on high-value customers with personalized offers, loyalty programs, and premium promotions.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Target customers who visit the website frequently but purchase less with better recommendations and special discounts.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different marketing campaigns for each customer segment based on spending, income, and campaign response.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Analyze DBSCAN outliers separately, as they may represent unusual or potentially valuable customer behavior.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marL="436612" lvl="1" indent="-218306" algn="l">
              <a:lnSpc>
                <a:spcPts val="2426"/>
              </a:lnSpc>
              <a:buFont typeface="Arial"/>
              <a:buChar char="•"/>
            </a:pPr>
            <a:r>
              <a:rPr lang="en-US" sz="20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Update the segmentation periodically as customer behavior changes over time.</a:t>
            </a:r>
          </a:p>
          <a:p>
            <a:pPr algn="l">
              <a:lnSpc>
                <a:spcPts val="2426"/>
              </a:lnSpc>
            </a:pPr>
            <a:endParaRPr lang="en-US" sz="2022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-230723" y="1170190"/>
            <a:ext cx="10348396" cy="0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 rot="3720">
            <a:off x="560146" y="6204671"/>
            <a:ext cx="8793404" cy="0"/>
          </a:xfrm>
          <a:prstGeom prst="line">
            <a:avLst/>
          </a:prstGeom>
          <a:ln w="9525" cap="rnd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E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979" y="5583412"/>
            <a:ext cx="9309849" cy="77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ⓒ2020 SAMSUNG. All rights reserved.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Samsung Electronics Corporate Citizenship Office holds the copyright of book.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id="3" name="Freeform 3"/>
          <p:cNvSpPr/>
          <p:nvPr/>
        </p:nvSpPr>
        <p:spPr>
          <a:xfrm>
            <a:off x="8066551" y="403955"/>
            <a:ext cx="1360961" cy="210188"/>
          </a:xfrm>
          <a:custGeom>
            <a:avLst/>
            <a:gdLst/>
            <a:ahLst/>
            <a:cxnLst/>
            <a:rect l="l" t="t" r="r" b="b"/>
            <a:pathLst>
              <a:path w="1360961" h="210188">
                <a:moveTo>
                  <a:pt x="0" y="0"/>
                </a:moveTo>
                <a:lnTo>
                  <a:pt x="1360961" y="0"/>
                </a:lnTo>
                <a:lnTo>
                  <a:pt x="1360961" y="210188"/>
                </a:lnTo>
                <a:lnTo>
                  <a:pt x="0" y="2101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070" b="-207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3271256" y="2628881"/>
            <a:ext cx="3360306" cy="1102138"/>
            <a:chOff x="0" y="0"/>
            <a:chExt cx="4480408" cy="14695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80433" cy="1469517"/>
            </a:xfrm>
            <a:custGeom>
              <a:avLst/>
              <a:gdLst/>
              <a:ahLst/>
              <a:cxnLst/>
              <a:rect l="l" t="t" r="r" b="b"/>
              <a:pathLst>
                <a:path w="4480433" h="1469517">
                  <a:moveTo>
                    <a:pt x="0" y="0"/>
                  </a:moveTo>
                  <a:lnTo>
                    <a:pt x="4480433" y="0"/>
                  </a:lnTo>
                  <a:lnTo>
                    <a:pt x="4480433" y="1469517"/>
                  </a:lnTo>
                  <a:lnTo>
                    <a:pt x="0" y="146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1" b="-10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2157</Words>
  <Application>Microsoft Office PowerPoint</Application>
  <PresentationFormat>Custom</PresentationFormat>
  <Paragraphs>197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Arimo</vt:lpstr>
      <vt:lpstr>Arial MT Pro Italics</vt:lpstr>
      <vt:lpstr>Arial MT Pro Bold</vt:lpstr>
      <vt:lpstr>Arial MT Pro</vt:lpstr>
      <vt:lpstr>Arial</vt:lpstr>
      <vt:lpstr>DM Sans Bold</vt:lpstr>
      <vt:lpstr>Arimo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</dc:title>
  <cp:lastModifiedBy>yossef Haytham Mousa</cp:lastModifiedBy>
  <cp:revision>6</cp:revision>
  <dcterms:created xsi:type="dcterms:W3CDTF">2006-08-16T00:00:00Z</dcterms:created>
  <dcterms:modified xsi:type="dcterms:W3CDTF">2026-09-05T11:30:22Z</dcterms:modified>
  <dc:identifier>DAHUASWcDR4</dc:identifier>
</cp:coreProperties>
</file>